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74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471165" y="1874519"/>
            <a:ext cx="9219191" cy="21236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713B55"/>
                </a:solidFill>
                <a:latin typeface="Aptos Display"/>
              </a:defRPr>
            </a:pPr>
            <a:r>
              <a:rPr sz="6600" dirty="0">
                <a:latin typeface="Aptos Display"/>
              </a:rPr>
              <a:t>Photography Location</a:t>
            </a:r>
            <a:br>
              <a:rPr sz="6600" dirty="0">
                <a:latin typeface="Aptos Display"/>
              </a:rPr>
            </a:br>
            <a:r>
              <a:rPr sz="6600" dirty="0">
                <a:latin typeface="Aptos Display"/>
              </a:rPr>
              <a:t>Recommender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1556" y="4067039"/>
            <a:ext cx="4958410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91496A"/>
                </a:solidFill>
              </a:defRPr>
            </a:pPr>
            <a:r>
              <a:rPr sz="4800">
                <a:latin typeface="Aptos Display"/>
              </a:rPr>
              <a:t>ระบบแนะนำสถานที่ถ่ายภาพ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5936" y="5977694"/>
            <a:ext cx="198964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44C59"/>
                </a:solidFill>
              </a:defRPr>
            </a:pPr>
            <a:r>
              <a:rPr dirty="0" err="1">
                <a:latin typeface="Aptos Display"/>
              </a:rPr>
              <a:t>ชื่อผู้จัดทำ</a:t>
            </a:r>
            <a:r>
              <a:rPr dirty="0">
                <a:latin typeface="Aptos Display"/>
              </a:rPr>
              <a:t>  </a:t>
            </a:r>
            <a:r>
              <a:rPr lang="th-TH" dirty="0" smtClean="0">
                <a:latin typeface="Aptos Display"/>
              </a:rPr>
              <a:t>ณฐกาญจน์ โพธิ์ทอง</a:t>
            </a:r>
            <a:endParaRPr dirty="0">
              <a:latin typeface="Aptos Display"/>
            </a:endParaRPr>
          </a:p>
          <a:p>
            <a:pPr algn="ctr">
              <a:defRPr sz="1400">
                <a:solidFill>
                  <a:srgbClr val="644C59"/>
                </a:solidFill>
              </a:defRPr>
            </a:pPr>
            <a:r>
              <a:rPr sz="1600" dirty="0" err="1">
                <a:latin typeface="Aptos Display"/>
              </a:rPr>
              <a:t>รหัสนักศึกษา</a:t>
            </a:r>
            <a:r>
              <a:rPr sz="1600" dirty="0">
                <a:latin typeface="Aptos Display"/>
              </a:rPr>
              <a:t> </a:t>
            </a:r>
            <a:r>
              <a:rPr lang="th-TH" sz="1600" dirty="0" smtClean="0">
                <a:latin typeface="Aptos Display"/>
              </a:rPr>
              <a:t>664245006</a:t>
            </a:r>
            <a:endParaRPr sz="1600" dirty="0">
              <a:latin typeface="Aptos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66284" y="657319"/>
            <a:ext cx="4059125" cy="1126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91496A"/>
                </a:solidFill>
                <a:latin typeface="Aptos Display"/>
              </a:defRPr>
            </a:pPr>
            <a:r>
              <a:rPr sz="4800" dirty="0" err="1">
                <a:latin typeface="Cascadia Mono Light" panose="020B0609020000020004" pitchFamily="49" charset="0"/>
                <a:cs typeface="Cascadia Mono Light" panose="020B0609020000020004" pitchFamily="49" charset="0"/>
              </a:rPr>
              <a:t>ที่มาและปัญหา</a:t>
            </a:r>
            <a:endParaRPr sz="48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4293" y="1815788"/>
            <a:ext cx="10515600" cy="2392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644C59"/>
                </a:solidFill>
                <a:latin typeface="Aptos"/>
              </a:defRPr>
            </a:pPr>
            <a:r>
              <a:rPr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• </a:t>
            </a:r>
            <a:r>
              <a:rPr dirty="0" err="1">
                <a:latin typeface="Cascadia Mono Light" panose="020B0609020000020004" pitchFamily="49" charset="0"/>
                <a:cs typeface="Cascadia Mono Light" panose="020B0609020000020004" pitchFamily="49" charset="0"/>
              </a:rPr>
              <a:t>ผู้ใช้มีความสนใจสถานที่ถ่ายภาพที่แตกต่างกัน</a:t>
            </a:r>
            <a:endParaRPr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  <a:p>
            <a:pPr>
              <a:spcAft>
                <a:spcPts val="1500"/>
              </a:spcAft>
              <a:defRPr sz="2000">
                <a:solidFill>
                  <a:srgbClr val="644C59"/>
                </a:solidFill>
                <a:latin typeface="Aptos"/>
              </a:defRPr>
            </a:pPr>
            <a:r>
              <a:rPr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• </a:t>
            </a:r>
            <a:r>
              <a:rPr dirty="0" err="1">
                <a:latin typeface="Cascadia Mono Light" panose="020B0609020000020004" pitchFamily="49" charset="0"/>
                <a:cs typeface="Cascadia Mono Light" panose="020B0609020000020004" pitchFamily="49" charset="0"/>
              </a:rPr>
              <a:t>ข้อมูลผู้ใช้</a:t>
            </a:r>
            <a:r>
              <a:rPr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 </a:t>
            </a:r>
            <a:r>
              <a:rPr dirty="0" err="1">
                <a:latin typeface="Cascadia Mono Light" panose="020B0609020000020004" pitchFamily="49" charset="0"/>
                <a:cs typeface="Cascadia Mono Light" panose="020B0609020000020004" pitchFamily="49" charset="0"/>
              </a:rPr>
              <a:t>สถานที่</a:t>
            </a:r>
            <a:r>
              <a:rPr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 </a:t>
            </a:r>
            <a:r>
              <a:rPr dirty="0" err="1">
                <a:latin typeface="Cascadia Mono Light" panose="020B0609020000020004" pitchFamily="49" charset="0"/>
                <a:cs typeface="Cascadia Mono Light" panose="020B0609020000020004" pitchFamily="49" charset="0"/>
              </a:rPr>
              <a:t>และความสัมพันธ์ระหว่างผู้ใช้มีความเชื่อมโยงกัน</a:t>
            </a:r>
            <a:endParaRPr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  <a:p>
            <a:pPr>
              <a:spcAft>
                <a:spcPts val="1500"/>
              </a:spcAft>
              <a:defRPr sz="2000">
                <a:solidFill>
                  <a:srgbClr val="644C59"/>
                </a:solidFill>
                <a:latin typeface="Aptos"/>
              </a:defRPr>
            </a:pPr>
            <a:r>
              <a:rPr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• </a:t>
            </a:r>
            <a:r>
              <a:rPr dirty="0" err="1">
                <a:latin typeface="Cascadia Mono Light" panose="020B0609020000020004" pitchFamily="49" charset="0"/>
                <a:cs typeface="Cascadia Mono Light" panose="020B0609020000020004" pitchFamily="49" charset="0"/>
              </a:rPr>
              <a:t>การค้นหาสถานที่จากความสนใจและความสัมพันธ์ของผู้ใช้อาจทำได้ยาก</a:t>
            </a:r>
            <a:endParaRPr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  <a:p>
            <a:pPr>
              <a:spcAft>
                <a:spcPts val="1500"/>
              </a:spcAft>
              <a:defRPr sz="2000">
                <a:solidFill>
                  <a:srgbClr val="644C59"/>
                </a:solidFill>
                <a:latin typeface="Aptos"/>
              </a:defRPr>
            </a:pPr>
            <a:r>
              <a:rPr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• </a:t>
            </a:r>
            <a:r>
              <a:rPr dirty="0" err="1">
                <a:latin typeface="Cascadia Mono Light" panose="020B0609020000020004" pitchFamily="49" charset="0"/>
                <a:cs typeface="Cascadia Mono Light" panose="020B0609020000020004" pitchFamily="49" charset="0"/>
              </a:rPr>
              <a:t>จึงนำ</a:t>
            </a:r>
            <a:r>
              <a:rPr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 Graph Database </a:t>
            </a:r>
            <a:r>
              <a:rPr dirty="0" err="1">
                <a:latin typeface="Cascadia Mono Light" panose="020B0609020000020004" pitchFamily="49" charset="0"/>
                <a:cs typeface="Cascadia Mono Light" panose="020B0609020000020004" pitchFamily="49" charset="0"/>
              </a:rPr>
              <a:t>มาใช้ในการจัดเก็บและวิเคราะห์ข้อมูล</a:t>
            </a:r>
            <a:endParaRPr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8797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689305" y="519514"/>
            <a:ext cx="6813084" cy="1126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91496A"/>
                </a:solidFill>
                <a:latin typeface="Aptos Display"/>
              </a:defRPr>
            </a:pPr>
            <a:r>
              <a:rPr sz="4800" dirty="0" err="1">
                <a:latin typeface="Cascadia Mono Light" panose="020B0609020000020004" pitchFamily="49" charset="0"/>
                <a:cs typeface="Cascadia Mono Light" panose="020B0609020000020004" pitchFamily="49" charset="0"/>
              </a:rPr>
              <a:t>วัตถุประสงค์ของโครงงาน</a:t>
            </a:r>
            <a:endParaRPr sz="48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736224"/>
            <a:ext cx="10515600" cy="2392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644C59"/>
                </a:solidFill>
                <a:latin typeface="Aptos"/>
              </a:defRPr>
            </a:pPr>
            <a:r>
              <a:rPr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• </a:t>
            </a:r>
            <a:r>
              <a:rPr dirty="0" err="1">
                <a:latin typeface="Cascadia Mono Light" panose="020B0609020000020004" pitchFamily="49" charset="0"/>
                <a:cs typeface="Cascadia Mono Light" panose="020B0609020000020004" pitchFamily="49" charset="0"/>
              </a:rPr>
              <a:t>พัฒนาระบบแนะนำสถานที่ถ่ายภาพ</a:t>
            </a:r>
            <a:endParaRPr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  <a:p>
            <a:pPr>
              <a:spcAft>
                <a:spcPts val="1500"/>
              </a:spcAft>
              <a:defRPr sz="2000">
                <a:solidFill>
                  <a:srgbClr val="644C59"/>
                </a:solidFill>
                <a:latin typeface="Aptos"/>
              </a:defRPr>
            </a:pPr>
            <a:r>
              <a:rPr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• </a:t>
            </a:r>
            <a:r>
              <a:rPr dirty="0" err="1">
                <a:latin typeface="Cascadia Mono Light" panose="020B0609020000020004" pitchFamily="49" charset="0"/>
                <a:cs typeface="Cascadia Mono Light" panose="020B0609020000020004" pitchFamily="49" charset="0"/>
              </a:rPr>
              <a:t>จัดเก็บข้อมูลผู้ใช้และสถานที่ในรูปแบบ</a:t>
            </a:r>
            <a:r>
              <a:rPr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 Graph Database</a:t>
            </a:r>
          </a:p>
          <a:p>
            <a:pPr>
              <a:spcAft>
                <a:spcPts val="1500"/>
              </a:spcAft>
              <a:defRPr sz="2000">
                <a:solidFill>
                  <a:srgbClr val="644C59"/>
                </a:solidFill>
                <a:latin typeface="Aptos"/>
              </a:defRPr>
            </a:pPr>
            <a:r>
              <a:rPr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• </a:t>
            </a:r>
            <a:r>
              <a:rPr dirty="0" err="1">
                <a:latin typeface="Cascadia Mono Light" panose="020B0609020000020004" pitchFamily="49" charset="0"/>
                <a:cs typeface="Cascadia Mono Light" panose="020B0609020000020004" pitchFamily="49" charset="0"/>
              </a:rPr>
              <a:t>แสดงความสัมพันธ์ระหว่างผู้ใช้กับผู้ใช้</a:t>
            </a:r>
            <a:r>
              <a:rPr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 </a:t>
            </a:r>
            <a:r>
              <a:rPr dirty="0" err="1">
                <a:latin typeface="Cascadia Mono Light" panose="020B0609020000020004" pitchFamily="49" charset="0"/>
                <a:cs typeface="Cascadia Mono Light" panose="020B0609020000020004" pitchFamily="49" charset="0"/>
              </a:rPr>
              <a:t>และผู้ใช้กับสถานที่</a:t>
            </a:r>
            <a:endParaRPr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  <a:p>
            <a:pPr>
              <a:spcAft>
                <a:spcPts val="1500"/>
              </a:spcAft>
              <a:defRPr sz="2000">
                <a:solidFill>
                  <a:srgbClr val="644C59"/>
                </a:solidFill>
                <a:latin typeface="Aptos"/>
              </a:defRPr>
            </a:pPr>
            <a:r>
              <a:rPr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• </a:t>
            </a:r>
            <a:r>
              <a:rPr dirty="0" err="1">
                <a:latin typeface="Cascadia Mono Light" panose="020B0609020000020004" pitchFamily="49" charset="0"/>
                <a:cs typeface="Cascadia Mono Light" panose="020B0609020000020004" pitchFamily="49" charset="0"/>
              </a:rPr>
              <a:t>นำข้อมูลความสัมพันธ์มาใช้ในการแนะนำสถานที่ถ่ายภาพ</a:t>
            </a:r>
            <a:endParaRPr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8797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65480" y="462820"/>
            <a:ext cx="4676280" cy="1126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91496A"/>
                </a:solidFill>
                <a:latin typeface="Aptos Display"/>
              </a:defRPr>
            </a:pPr>
            <a:r>
              <a:rPr sz="4800" dirty="0" err="1">
                <a:latin typeface="Cascadia Mono Light" panose="020B0609020000020004" pitchFamily="49" charset="0"/>
                <a:cs typeface="Cascadia Mono Light" panose="020B0609020000020004" pitchFamily="49" charset="0"/>
              </a:rPr>
              <a:t>แนวคิดของระบบ</a:t>
            </a:r>
            <a:endParaRPr sz="48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762641"/>
            <a:ext cx="31546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3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tlCol="0" anchor="ctr"/>
          <a:lstStyle/>
          <a:p>
            <a:pPr>
              <a:defRPr sz="1800" b="1">
                <a:solidFill>
                  <a:srgbClr val="91496A"/>
                </a:solidFill>
              </a:defRPr>
            </a:pPr>
            <a:r>
              <a:rPr sz="4400"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USER</a:t>
            </a:r>
          </a:p>
          <a:p>
            <a:pPr>
              <a:defRPr sz="1400">
                <a:solidFill>
                  <a:srgbClr val="644C59"/>
                </a:solidFill>
              </a:defRPr>
            </a:pPr>
            <a:r>
              <a:rPr sz="2400" dirty="0" err="1">
                <a:latin typeface="Cascadia Mono Light" panose="020B0609020000020004" pitchFamily="49" charset="0"/>
                <a:cs typeface="Cascadia Mono Light" panose="020B0609020000020004" pitchFamily="49" charset="0"/>
              </a:rPr>
              <a:t>ข้อมูลผู้ใช้งานระบบ</a:t>
            </a:r>
            <a:endParaRPr sz="24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26280" y="1762641"/>
            <a:ext cx="31546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3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tlCol="0" anchor="ctr"/>
          <a:lstStyle/>
          <a:p>
            <a:pPr>
              <a:defRPr sz="1800" b="1">
                <a:solidFill>
                  <a:srgbClr val="91496A"/>
                </a:solidFill>
              </a:defRPr>
            </a:pPr>
            <a:r>
              <a:rPr sz="4400"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FRIEND</a:t>
            </a:r>
          </a:p>
          <a:p>
            <a:pPr>
              <a:defRPr sz="1400">
                <a:solidFill>
                  <a:srgbClr val="644C59"/>
                </a:solidFill>
              </a:defRPr>
            </a:pPr>
            <a:r>
              <a:rPr sz="2000" dirty="0" err="1">
                <a:latin typeface="Cascadia Mono Light" panose="020B0609020000020004" pitchFamily="49" charset="0"/>
                <a:cs typeface="Cascadia Mono Light" panose="020B0609020000020004" pitchFamily="49" charset="0"/>
              </a:rPr>
              <a:t>ความสัมพันธ์ระหว่างผู้ใช้</a:t>
            </a:r>
            <a:endParaRPr sz="20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321040" y="1762641"/>
            <a:ext cx="31546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3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tlCol="0" anchor="ctr"/>
          <a:lstStyle/>
          <a:p>
            <a:pPr>
              <a:defRPr sz="1800" b="1">
                <a:solidFill>
                  <a:srgbClr val="91496A"/>
                </a:solidFill>
              </a:defRPr>
            </a:pPr>
            <a:r>
              <a:rPr sz="3600"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LIKES</a:t>
            </a:r>
          </a:p>
          <a:p>
            <a:pPr>
              <a:defRPr sz="1400">
                <a:solidFill>
                  <a:srgbClr val="644C59"/>
                </a:solidFill>
              </a:defRPr>
            </a:pPr>
            <a:r>
              <a:rPr sz="2000" dirty="0" err="1">
                <a:latin typeface="Cascadia Mono Light" panose="020B0609020000020004" pitchFamily="49" charset="0"/>
                <a:cs typeface="Cascadia Mono Light" panose="020B0609020000020004" pitchFamily="49" charset="0"/>
              </a:rPr>
              <a:t>สถานที่ที่ผู้ใช้</a:t>
            </a:r>
            <a:r>
              <a:rPr sz="2000" dirty="0" err="1" smtClean="0">
                <a:latin typeface="Cascadia Mono Light" panose="020B0609020000020004" pitchFamily="49" charset="0"/>
                <a:cs typeface="Cascadia Mono Light" panose="020B0609020000020004" pitchFamily="49" charset="0"/>
              </a:rPr>
              <a:t>เลือก</a:t>
            </a:r>
            <a:endParaRPr sz="20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8797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26600" y="499545"/>
            <a:ext cx="3926075" cy="1126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91496A"/>
                </a:solidFill>
                <a:latin typeface="Aptos Display"/>
              </a:defRPr>
            </a:pPr>
            <a:r>
              <a:rPr sz="4800" dirty="0" err="1">
                <a:latin typeface="Cascadia Mono Light" panose="020B0609020000020004" pitchFamily="49" charset="0"/>
                <a:cs typeface="Cascadia Mono Light" panose="020B0609020000020004" pitchFamily="49" charset="0"/>
              </a:rPr>
              <a:t>เทคโนโลยีที่ใช้</a:t>
            </a:r>
            <a:endParaRPr sz="48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914400" y="1816281"/>
            <a:ext cx="4983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F3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tlCol="0" anchor="ctr"/>
          <a:lstStyle/>
          <a:p>
            <a:pPr algn="ctr">
              <a:defRPr sz="1800" b="1">
                <a:solidFill>
                  <a:srgbClr val="91496A"/>
                </a:solidFill>
              </a:defRPr>
            </a:pPr>
            <a:r>
              <a:rPr sz="2400" dirty="0" smtClean="0">
                <a:latin typeface="Cascadia Mono Light" panose="020B0609020000020004" pitchFamily="49" charset="0"/>
                <a:cs typeface="Cascadia Mono Light" panose="020B0609020000020004" pitchFamily="49" charset="0"/>
              </a:rPr>
              <a:t>Python</a:t>
            </a:r>
            <a:r>
              <a:rPr lang="th-TH" sz="2400" dirty="0" smtClean="0">
                <a:latin typeface="Cascadia Mono Light" panose="020B0609020000020004" pitchFamily="49" charset="0"/>
                <a:cs typeface="Cascadia Mono Light" panose="020B0609020000020004" pitchFamily="49" charset="0"/>
              </a:rPr>
              <a:t> </a:t>
            </a:r>
            <a:r>
              <a:rPr sz="2400" dirty="0" err="1" smtClean="0">
                <a:latin typeface="Cascadia Mono Light" panose="020B0609020000020004" pitchFamily="49" charset="0"/>
                <a:cs typeface="Cascadia Mono Light" panose="020B0609020000020004" pitchFamily="49" charset="0"/>
              </a:rPr>
              <a:t>พัฒนา</a:t>
            </a:r>
            <a:r>
              <a:rPr sz="2400" dirty="0" err="1">
                <a:latin typeface="Cascadia Mono Light" panose="020B0609020000020004" pitchFamily="49" charset="0"/>
                <a:cs typeface="Cascadia Mono Light" panose="020B0609020000020004" pitchFamily="49" charset="0"/>
              </a:rPr>
              <a:t>ระบบ</a:t>
            </a:r>
            <a:endParaRPr sz="24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14400" y="3142161"/>
            <a:ext cx="4983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F3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tlCol="0" anchor="ctr"/>
          <a:lstStyle/>
          <a:p>
            <a:pPr algn="ctr">
              <a:defRPr sz="1800" b="1">
                <a:solidFill>
                  <a:srgbClr val="91496A"/>
                </a:solidFill>
              </a:defRPr>
            </a:pPr>
            <a:r>
              <a:rPr sz="2000" dirty="0" err="1" smtClean="0">
                <a:latin typeface="Cascadia Mono Light" panose="020B0609020000020004" pitchFamily="49" charset="0"/>
                <a:cs typeface="Cascadia Mono Light" panose="020B0609020000020004" pitchFamily="49" charset="0"/>
              </a:rPr>
              <a:t>Streamlit</a:t>
            </a:r>
            <a:r>
              <a:rPr lang="th-TH" sz="2000" dirty="0" smtClean="0">
                <a:latin typeface="Cascadia Mono Light" panose="020B0609020000020004" pitchFamily="49" charset="0"/>
                <a:cs typeface="Cascadia Mono Light" panose="020B0609020000020004" pitchFamily="49" charset="0"/>
              </a:rPr>
              <a:t> </a:t>
            </a:r>
            <a:r>
              <a:rPr sz="2000" dirty="0" err="1" smtClean="0">
                <a:latin typeface="Cascadia Mono Light" panose="020B0609020000020004" pitchFamily="49" charset="0"/>
                <a:cs typeface="Cascadia Mono Light" panose="020B0609020000020004" pitchFamily="49" charset="0"/>
              </a:rPr>
              <a:t>พัฒนา</a:t>
            </a:r>
            <a:r>
              <a:rPr sz="2000" dirty="0" smtClean="0">
                <a:latin typeface="Cascadia Mono Light" panose="020B0609020000020004" pitchFamily="49" charset="0"/>
                <a:cs typeface="Cascadia Mono Light" panose="020B0609020000020004" pitchFamily="49" charset="0"/>
              </a:rPr>
              <a:t> </a:t>
            </a:r>
            <a:r>
              <a:rPr sz="2000"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Web 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468041"/>
            <a:ext cx="4983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F3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tlCol="0" anchor="ctr"/>
          <a:lstStyle/>
          <a:p>
            <a:pPr algn="ctr">
              <a:defRPr sz="1800" b="1">
                <a:solidFill>
                  <a:srgbClr val="91496A"/>
                </a:solidFill>
              </a:defRPr>
            </a:pPr>
            <a:r>
              <a:rPr sz="2400" dirty="0"/>
              <a:t>Neo4j </a:t>
            </a:r>
            <a:r>
              <a:rPr sz="2400" dirty="0" smtClean="0"/>
              <a:t>Aura</a:t>
            </a:r>
            <a:r>
              <a:rPr lang="th-TH" sz="2400" dirty="0" smtClean="0"/>
              <a:t> </a:t>
            </a:r>
            <a:r>
              <a:rPr sz="2400" dirty="0" err="1" smtClean="0"/>
              <a:t>จัดเก็บ</a:t>
            </a:r>
            <a:r>
              <a:rPr sz="2400" dirty="0" smtClean="0"/>
              <a:t> </a:t>
            </a:r>
            <a:r>
              <a:rPr sz="2400" dirty="0"/>
              <a:t>Graph Database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816281"/>
            <a:ext cx="4983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F3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tlCol="0" anchor="ctr"/>
          <a:lstStyle/>
          <a:p>
            <a:pPr algn="ctr">
              <a:defRPr sz="1800" b="1">
                <a:solidFill>
                  <a:srgbClr val="91496A"/>
                </a:solidFill>
              </a:defRPr>
            </a:pPr>
            <a:r>
              <a:rPr sz="2400" dirty="0" smtClean="0">
                <a:latin typeface="Cascadia Mono Light" panose="020B0609020000020004" pitchFamily="49" charset="0"/>
                <a:cs typeface="Cascadia Mono Light" panose="020B0609020000020004" pitchFamily="49" charset="0"/>
              </a:rPr>
              <a:t>Cypher</a:t>
            </a:r>
            <a:r>
              <a:rPr lang="th-TH" sz="2400" dirty="0" smtClean="0">
                <a:latin typeface="Cascadia Mono Light" panose="020B0609020000020004" pitchFamily="49" charset="0"/>
                <a:cs typeface="Cascadia Mono Light" panose="020B0609020000020004" pitchFamily="49" charset="0"/>
              </a:rPr>
              <a:t> </a:t>
            </a:r>
            <a:r>
              <a:rPr sz="2400" dirty="0" err="1" smtClean="0">
                <a:latin typeface="Cascadia Mono Light" panose="020B0609020000020004" pitchFamily="49" charset="0"/>
                <a:cs typeface="Cascadia Mono Light" panose="020B0609020000020004" pitchFamily="49" charset="0"/>
              </a:rPr>
              <a:t>จัดการ</a:t>
            </a:r>
            <a:r>
              <a:rPr sz="2400" dirty="0" err="1">
                <a:latin typeface="Cascadia Mono Light" panose="020B0609020000020004" pitchFamily="49" charset="0"/>
                <a:cs typeface="Cascadia Mono Light" panose="020B0609020000020004" pitchFamily="49" charset="0"/>
              </a:rPr>
              <a:t>และค้นหาข้อมูล</a:t>
            </a:r>
            <a:endParaRPr sz="24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46520" y="3142161"/>
            <a:ext cx="4983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F3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tlCol="0" anchor="ctr"/>
          <a:lstStyle/>
          <a:p>
            <a:pPr algn="ctr">
              <a:defRPr sz="1800" b="1">
                <a:solidFill>
                  <a:srgbClr val="91496A"/>
                </a:solidFill>
              </a:defRPr>
            </a:pPr>
            <a:r>
              <a:rPr dirty="0" smtClean="0">
                <a:latin typeface="Cascadia Mono Light" panose="020B0609020000020004" pitchFamily="49" charset="0"/>
                <a:cs typeface="Cascadia Mono Light" panose="020B0609020000020004" pitchFamily="49" charset="0"/>
              </a:rPr>
              <a:t>GitHub</a:t>
            </a:r>
            <a:r>
              <a:rPr lang="th-TH" dirty="0" smtClean="0">
                <a:latin typeface="Cascadia Mono Light" panose="020B0609020000020004" pitchFamily="49" charset="0"/>
                <a:cs typeface="Cascadia Mono Light" panose="020B0609020000020004" pitchFamily="49" charset="0"/>
              </a:rPr>
              <a:t> </a:t>
            </a:r>
            <a:r>
              <a:rPr dirty="0" err="1" smtClean="0">
                <a:latin typeface="Cascadia Mono Light" panose="020B0609020000020004" pitchFamily="49" charset="0"/>
                <a:cs typeface="Cascadia Mono Light" panose="020B0609020000020004" pitchFamily="49" charset="0"/>
              </a:rPr>
              <a:t>จัดเก็บ</a:t>
            </a:r>
            <a:r>
              <a:rPr dirty="0" smtClean="0">
                <a:latin typeface="Cascadia Mono Light" panose="020B0609020000020004" pitchFamily="49" charset="0"/>
                <a:cs typeface="Cascadia Mono Light" panose="020B0609020000020004" pitchFamily="49" charset="0"/>
              </a:rPr>
              <a:t> </a:t>
            </a:r>
            <a:r>
              <a:rPr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Source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8797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021655" y="389727"/>
            <a:ext cx="8148384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91496A"/>
                </a:solidFill>
                <a:latin typeface="Aptos Display"/>
              </a:defRPr>
            </a:pPr>
            <a:r>
              <a:rPr sz="4800" dirty="0" err="1"/>
              <a:t>โครงสร้างข้อมูลใน</a:t>
            </a:r>
            <a:r>
              <a:rPr sz="4800" dirty="0"/>
              <a:t> Graph Database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63040"/>
            <a:ext cx="30175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F3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tlCol="0" anchor="ctr"/>
          <a:lstStyle/>
          <a:p>
            <a:pPr algn="ctr">
              <a:defRPr sz="1800" b="1">
                <a:solidFill>
                  <a:srgbClr val="91496A"/>
                </a:solidFill>
              </a:defRPr>
            </a:pPr>
            <a:r>
              <a:rPr sz="2800"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NODE</a:t>
            </a:r>
          </a:p>
          <a:p>
            <a:pPr>
              <a:defRPr sz="1400">
                <a:solidFill>
                  <a:srgbClr val="644C59"/>
                </a:solidFill>
              </a:defRPr>
            </a:pPr>
            <a:r>
              <a:rPr sz="2000"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• User</a:t>
            </a:r>
            <a:br>
              <a:rPr sz="2000" dirty="0">
                <a:latin typeface="Cascadia Mono Light" panose="020B0609020000020004" pitchFamily="49" charset="0"/>
                <a:cs typeface="Cascadia Mono Light" panose="020B0609020000020004" pitchFamily="49" charset="0"/>
              </a:rPr>
            </a:br>
            <a:r>
              <a:rPr sz="2000"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• Location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749039"/>
            <a:ext cx="30175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F3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tlCol="0" anchor="ctr"/>
          <a:lstStyle/>
          <a:p>
            <a:pPr algn="ctr">
              <a:defRPr sz="1800" b="1">
                <a:solidFill>
                  <a:srgbClr val="91496A"/>
                </a:solidFill>
              </a:defRPr>
            </a:pPr>
            <a:r>
              <a:rPr sz="2800"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RELATIONSHIP</a:t>
            </a:r>
          </a:p>
          <a:p>
            <a:pPr>
              <a:defRPr sz="1400">
                <a:solidFill>
                  <a:srgbClr val="644C59"/>
                </a:solidFill>
              </a:defRPr>
            </a:pPr>
            <a:r>
              <a:rPr sz="2800"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• </a:t>
            </a:r>
            <a:r>
              <a:rPr sz="2000"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FRIEND</a:t>
            </a:r>
            <a:br>
              <a:rPr sz="2000" dirty="0">
                <a:latin typeface="Cascadia Mono Light" panose="020B0609020000020004" pitchFamily="49" charset="0"/>
                <a:cs typeface="Cascadia Mono Light" panose="020B0609020000020004" pitchFamily="49" charset="0"/>
              </a:rPr>
            </a:br>
            <a:r>
              <a:rPr sz="2000"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• </a:t>
            </a:r>
            <a:r>
              <a:rPr lang="th-TH" sz="2000" dirty="0" smtClean="0">
                <a:latin typeface="Cascadia Mono Light" panose="020B0609020000020004" pitchFamily="49" charset="0"/>
                <a:cs typeface="Cascadia Mono Light" panose="020B0609020000020004" pitchFamily="49" charset="0"/>
              </a:rPr>
              <a:t> </a:t>
            </a:r>
            <a:r>
              <a:rPr sz="2000" dirty="0" smtClean="0">
                <a:latin typeface="Cascadia Mono Light" panose="020B0609020000020004" pitchFamily="49" charset="0"/>
                <a:cs typeface="Cascadia Mono Light" panose="020B0609020000020004" pitchFamily="49" charset="0"/>
              </a:rPr>
              <a:t>LIKES</a:t>
            </a:r>
            <a:endParaRPr sz="20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4846320" y="2011680"/>
            <a:ext cx="1417320" cy="960120"/>
          </a:xfrm>
          <a:prstGeom prst="ellipse">
            <a:avLst/>
          </a:prstGeom>
          <a:solidFill>
            <a:srgbClr val="FCE7F3"/>
          </a:solidFill>
          <a:ln>
            <a:solidFill>
              <a:srgbClr val="F9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713B55"/>
                </a:solidFill>
              </a:defRPr>
            </a:pPr>
            <a:r>
              <a:rPr sz="2400" dirty="0"/>
              <a:t>User</a:t>
            </a:r>
          </a:p>
        </p:txBody>
      </p:sp>
      <p:sp>
        <p:nvSpPr>
          <p:cNvPr id="7" name="Oval 6"/>
          <p:cNvSpPr/>
          <p:nvPr/>
        </p:nvSpPr>
        <p:spPr>
          <a:xfrm>
            <a:off x="7955279" y="2011680"/>
            <a:ext cx="1417320" cy="960120"/>
          </a:xfrm>
          <a:prstGeom prst="ellipse">
            <a:avLst/>
          </a:prstGeom>
          <a:solidFill>
            <a:srgbClr val="FCE7F3"/>
          </a:solidFill>
          <a:ln>
            <a:solidFill>
              <a:srgbClr val="F9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713B55"/>
                </a:solidFill>
              </a:defRPr>
            </a:pPr>
            <a:r>
              <a:rPr sz="1600" dirty="0"/>
              <a:t>User</a:t>
            </a:r>
          </a:p>
        </p:txBody>
      </p:sp>
      <p:sp>
        <p:nvSpPr>
          <p:cNvPr id="8" name="Oval 7"/>
          <p:cNvSpPr/>
          <p:nvPr/>
        </p:nvSpPr>
        <p:spPr>
          <a:xfrm>
            <a:off x="6400799" y="4172373"/>
            <a:ext cx="1554479" cy="960120"/>
          </a:xfrm>
          <a:prstGeom prst="ellipse">
            <a:avLst/>
          </a:prstGeom>
          <a:solidFill>
            <a:srgbClr val="EFE7FF"/>
          </a:solidFill>
          <a:ln>
            <a:solidFill>
              <a:srgbClr val="F9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713B55"/>
                </a:solidFill>
              </a:defRPr>
            </a:pPr>
            <a:r>
              <a:rPr sz="2000" dirty="0"/>
              <a:t>Location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263640" y="2487168"/>
            <a:ext cx="1645920" cy="0"/>
          </a:xfrm>
          <a:prstGeom prst="line">
            <a:avLst/>
          </a:prstGeom>
          <a:ln w="31750">
            <a:solidFill>
              <a:srgbClr val="914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57975" y="2100334"/>
            <a:ext cx="97013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91496A"/>
                </a:solidFill>
              </a:defRPr>
            </a:pPr>
            <a:r>
              <a:rPr sz="2000" dirty="0"/>
              <a:t>FRIEND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532120" y="2971800"/>
            <a:ext cx="1371600" cy="1234440"/>
          </a:xfrm>
          <a:prstGeom prst="line">
            <a:avLst/>
          </a:prstGeom>
          <a:ln w="31750">
            <a:solidFill>
              <a:srgbClr val="914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53506" y="3388965"/>
            <a:ext cx="74802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91496A"/>
                </a:solidFill>
              </a:defRPr>
            </a:pPr>
            <a:r>
              <a:rPr sz="2000" dirty="0"/>
              <a:t>LIKES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8797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71240" y="403240"/>
            <a:ext cx="5509842" cy="1126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91496A"/>
                </a:solidFill>
                <a:latin typeface="Aptos Display"/>
              </a:defRPr>
            </a:pPr>
            <a:r>
              <a:rPr sz="4800" dirty="0" err="1">
                <a:latin typeface="Cascadia Mono Light" panose="020B0609020000020004" pitchFamily="49" charset="0"/>
                <a:cs typeface="Cascadia Mono Light" panose="020B0609020000020004" pitchFamily="49" charset="0"/>
              </a:rPr>
              <a:t>การทำงานของระบบ</a:t>
            </a:r>
            <a:endParaRPr sz="48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1655516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3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tlCol="0" anchor="ctr"/>
          <a:lstStyle/>
          <a:p>
            <a:pPr>
              <a:defRPr sz="1800" b="1">
                <a:solidFill>
                  <a:srgbClr val="91496A"/>
                </a:solidFill>
              </a:defRPr>
            </a:pPr>
            <a:r>
              <a:rPr sz="2400"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1</a:t>
            </a:r>
          </a:p>
          <a:p>
            <a:pPr>
              <a:defRPr sz="1400">
                <a:solidFill>
                  <a:srgbClr val="644C59"/>
                </a:solidFill>
              </a:defRPr>
            </a:pPr>
            <a:r>
              <a:rPr sz="2400" dirty="0" err="1">
                <a:latin typeface="Cascadia Mono Light" panose="020B0609020000020004" pitchFamily="49" charset="0"/>
                <a:cs typeface="Cascadia Mono Light" panose="020B0609020000020004" pitchFamily="49" charset="0"/>
              </a:rPr>
              <a:t>เลือกผู้ใช้</a:t>
            </a:r>
            <a:endParaRPr sz="24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480560" y="1655516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3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tlCol="0" anchor="ctr"/>
          <a:lstStyle/>
          <a:p>
            <a:pPr>
              <a:defRPr sz="1800" b="1">
                <a:solidFill>
                  <a:srgbClr val="91496A"/>
                </a:solidFill>
              </a:defRPr>
            </a:pPr>
            <a:r>
              <a:rPr sz="2400"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2</a:t>
            </a:r>
          </a:p>
          <a:p>
            <a:pPr>
              <a:defRPr sz="1400">
                <a:solidFill>
                  <a:srgbClr val="644C59"/>
                </a:solidFill>
              </a:defRPr>
            </a:pPr>
            <a:r>
              <a:rPr sz="2400" dirty="0" err="1">
                <a:latin typeface="Cascadia Mono Light" panose="020B0609020000020004" pitchFamily="49" charset="0"/>
                <a:cs typeface="Cascadia Mono Light" panose="020B0609020000020004" pitchFamily="49" charset="0"/>
              </a:rPr>
              <a:t>ตรวจสอบเพื่อนของผู้ใช้</a:t>
            </a:r>
            <a:endParaRPr sz="24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321040" y="1655516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3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tlCol="0" anchor="ctr"/>
          <a:lstStyle/>
          <a:p>
            <a:pPr>
              <a:defRPr sz="1800" b="1">
                <a:solidFill>
                  <a:srgbClr val="91496A"/>
                </a:solidFill>
              </a:defRPr>
            </a:pPr>
            <a:r>
              <a:rPr sz="2000"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3</a:t>
            </a:r>
          </a:p>
          <a:p>
            <a:pPr>
              <a:defRPr sz="1400">
                <a:solidFill>
                  <a:srgbClr val="644C59"/>
                </a:solidFill>
              </a:defRPr>
            </a:pPr>
            <a:r>
              <a:rPr sz="2000" dirty="0" err="1">
                <a:latin typeface="Cascadia Mono Light" panose="020B0609020000020004" pitchFamily="49" charset="0"/>
                <a:cs typeface="Cascadia Mono Light" panose="020B0609020000020004" pitchFamily="49" charset="0"/>
              </a:rPr>
              <a:t>ตรวจสอบสถานที่ที่</a:t>
            </a:r>
            <a:r>
              <a:rPr sz="2000" dirty="0" err="1" smtClean="0">
                <a:latin typeface="Cascadia Mono Light" panose="020B0609020000020004" pitchFamily="49" charset="0"/>
                <a:cs typeface="Cascadia Mono Light" panose="020B0609020000020004" pitchFamily="49" charset="0"/>
              </a:rPr>
              <a:t>เพื่อน</a:t>
            </a:r>
            <a:r>
              <a:rPr lang="th-TH" sz="2000" dirty="0" smtClean="0">
                <a:latin typeface="Cascadia Mono Light" panose="020B0609020000020004" pitchFamily="49" charset="0"/>
                <a:cs typeface="Cascadia Mono Light" panose="020B0609020000020004" pitchFamily="49" charset="0"/>
              </a:rPr>
              <a:t>เลือก</a:t>
            </a:r>
            <a:endParaRPr sz="20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3804356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3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tlCol="0" anchor="ctr"/>
          <a:lstStyle/>
          <a:p>
            <a:pPr>
              <a:defRPr sz="1800" b="1">
                <a:solidFill>
                  <a:srgbClr val="91496A"/>
                </a:solidFill>
              </a:defRPr>
            </a:pPr>
            <a:r>
              <a:rPr sz="2000"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4</a:t>
            </a:r>
          </a:p>
          <a:p>
            <a:pPr>
              <a:defRPr sz="1400">
                <a:solidFill>
                  <a:srgbClr val="644C59"/>
                </a:solidFill>
              </a:defRPr>
            </a:pPr>
            <a:r>
              <a:rPr sz="2000" dirty="0" err="1">
                <a:latin typeface="Cascadia Mono Light" panose="020B0609020000020004" pitchFamily="49" charset="0"/>
                <a:cs typeface="Cascadia Mono Light" panose="020B0609020000020004" pitchFamily="49" charset="0"/>
              </a:rPr>
              <a:t>ตัดสถานที่ที่ผู้ใช้เลือกไว้แล้ว</a:t>
            </a:r>
            <a:endParaRPr sz="20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480560" y="3804356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3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tlCol="0" anchor="ctr"/>
          <a:lstStyle/>
          <a:p>
            <a:pPr>
              <a:defRPr sz="1800" b="1">
                <a:solidFill>
                  <a:srgbClr val="91496A"/>
                </a:solidFill>
              </a:defRPr>
            </a:pPr>
            <a:r>
              <a:rPr sz="2000"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5</a:t>
            </a:r>
          </a:p>
          <a:p>
            <a:pPr>
              <a:defRPr sz="1400">
                <a:solidFill>
                  <a:srgbClr val="644C59"/>
                </a:solidFill>
              </a:defRPr>
            </a:pPr>
            <a:r>
              <a:rPr sz="2000" dirty="0" err="1">
                <a:latin typeface="Cascadia Mono Light" panose="020B0609020000020004" pitchFamily="49" charset="0"/>
                <a:cs typeface="Cascadia Mono Light" panose="020B0609020000020004" pitchFamily="49" charset="0"/>
              </a:rPr>
              <a:t>จัดลำดับสถานที่แนะนำ</a:t>
            </a:r>
            <a:endParaRPr sz="20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321040" y="3804356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3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tlCol="0" anchor="ctr"/>
          <a:lstStyle/>
          <a:p>
            <a:pPr>
              <a:defRPr sz="1800" b="1">
                <a:solidFill>
                  <a:srgbClr val="91496A"/>
                </a:solidFill>
              </a:defRPr>
            </a:pPr>
            <a:r>
              <a:rPr sz="2400"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6</a:t>
            </a:r>
          </a:p>
          <a:p>
            <a:pPr>
              <a:defRPr sz="1400">
                <a:solidFill>
                  <a:srgbClr val="644C59"/>
                </a:solidFill>
              </a:defRPr>
            </a:pPr>
            <a:r>
              <a:rPr sz="2400" dirty="0" err="1">
                <a:latin typeface="Cascadia Mono Light" panose="020B0609020000020004" pitchFamily="49" charset="0"/>
                <a:cs typeface="Cascadia Mono Light" panose="020B0609020000020004" pitchFamily="49" charset="0"/>
              </a:rPr>
              <a:t>แสดงผลสถานที่แนะนำ</a:t>
            </a:r>
            <a:endParaRPr sz="24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81260" y="5806440"/>
            <a:ext cx="1039900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4C59"/>
                </a:solidFill>
              </a:defRPr>
            </a:pPr>
            <a:r>
              <a:rPr sz="2000" dirty="0" err="1">
                <a:latin typeface="Cascadia Mono Light" panose="020B0609020000020004" pitchFamily="49" charset="0"/>
                <a:cs typeface="Cascadia Mono Light" panose="020B0609020000020004" pitchFamily="49" charset="0"/>
              </a:rPr>
              <a:t>ระบบจะนำสถานที่ที่เพื่อนของผู้ใช้กด</a:t>
            </a:r>
            <a:r>
              <a:rPr sz="2000"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 Like </a:t>
            </a:r>
            <a:r>
              <a:rPr sz="2000" dirty="0" err="1">
                <a:latin typeface="Cascadia Mono Light" panose="020B0609020000020004" pitchFamily="49" charset="0"/>
                <a:cs typeface="Cascadia Mono Light" panose="020B0609020000020004" pitchFamily="49" charset="0"/>
              </a:rPr>
              <a:t>มาพิจารณา</a:t>
            </a:r>
            <a:r>
              <a:rPr sz="2000"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 </a:t>
            </a:r>
            <a:r>
              <a:rPr sz="2000" dirty="0" err="1">
                <a:latin typeface="Cascadia Mono Light" panose="020B0609020000020004" pitchFamily="49" charset="0"/>
                <a:cs typeface="Cascadia Mono Light" panose="020B0609020000020004" pitchFamily="49" charset="0"/>
              </a:rPr>
              <a:t>และแนะนำเฉพาะสถานที่ที่ผู้ใช้ยังไม่ได้เลือก</a:t>
            </a:r>
            <a:endParaRPr sz="20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8797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235</Words>
  <Application>Microsoft Office PowerPoint</Application>
  <PresentationFormat>Widescreen</PresentationFormat>
  <Paragraphs>57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 Display</vt:lpstr>
      <vt:lpstr>Arial</vt:lpstr>
      <vt:lpstr>Calibri</vt:lpstr>
      <vt:lpstr>Cascadia Mono Light</vt:lpstr>
      <vt:lpstr>Cordia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Admin</cp:lastModifiedBy>
  <cp:revision>3</cp:revision>
  <dcterms:created xsi:type="dcterms:W3CDTF">2013-01-27T09:14:16Z</dcterms:created>
  <dcterms:modified xsi:type="dcterms:W3CDTF">2026-10-02T07:30:30Z</dcterms:modified>
  <cp:category/>
</cp:coreProperties>
</file>